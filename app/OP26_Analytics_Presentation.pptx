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4200" b="1">
                <a:solidFill>
                  <a:srgbClr val="10B981"/>
                </a:solidFill>
                <a:latin typeface="Outfit"/>
              </a:defRPr>
            </a:pPr>
            <a:r>
              <a:t>Agentic AI-Based Dynamic Tariff Optimization</a:t>
            </a:r>
          </a:p>
          <a:p>
            <a:pPr>
              <a:defRPr sz="2000">
                <a:solidFill>
                  <a:srgbClr val="F1F5F9"/>
                </a:solidFill>
                <a:latin typeface="Outfit"/>
              </a:defRPr>
            </a:pPr>
            <a:r>
              <a:t>For EV Charging Networks Using Large-Scale Charging Session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327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 i="1">
                <a:solidFill>
                  <a:srgbClr val="94A3B8"/>
                </a:solidFill>
                <a:latin typeface="Inter"/>
              </a:defRPr>
            </a:pPr>
            <a:r>
              <a:t>Open Project 2026 Submission by Society of Business</a:t>
            </a:r>
          </a:p>
          <a:p>
            <a:pPr>
              <a:defRPr sz="1500" b="1">
                <a:solidFill>
                  <a:srgbClr val="10B981"/>
                </a:solidFill>
                <a:latin typeface="Inter"/>
              </a:defRPr>
            </a:pPr>
            <a:r>
              <a:t>Submitted by: Aryan Mehra (Enrollment: 23115025)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utfit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Outfit"/>
              </a:defRPr>
            </a:pPr>
            <a:r>
              <a:t>Project Overview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Dynamic Tariff Optimization Problem Setup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Inter"/>
              </a:defRPr>
            </a:pPr>
            <a:r>
              <a:t>• Problem Statement: Flat-rate tariffs cause peak-hour congestion and underutilization in off-peak windows.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Inter"/>
              </a:defRPr>
            </a:pPr>
            <a:r>
              <a:t>• Objective: Build a self-improving pricing engine that autonomously predicts demand, optimizes tariffs, and learns from outcomes to maximize revenue and balance grid load.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Inter"/>
              </a:defRPr>
            </a:pPr>
            <a:r>
              <a:t>• Datasets: Caltech ACN-Data (30,000+ sessions) and Shenzhen UrbanEV Dataset (24,798 charging piles).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utfit"/>
              </a:defRPr>
            </a:pPr>
            <a:r>
              <a:t>EV TARIFF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Outfit"/>
              </a:defRPr>
            </a:pPr>
            <a:r>
              <a:t>Data Preprocessing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Data Cleaning &amp; Alignment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ACN Dataset: Cleaned session data and forward-filled charging metrics into nested user update sheets.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ACN Dataset: Aggregated session-level metrics into hourly active occupancies and charging loads.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UrbanEV: Reshaped 2.13M row grid matrix datasets into long format for temporal-spatial training.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Unified Grid Scaling: Multiplied default price by 15.0 to align prices with Indian Rupee baseline metrics (average ~₹14.38/kWh).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Feature Engineering Decisions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Charger Utilization Rate: Computed as active charging time divided by total available capacity.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Queue Length Proxy: Defined as max(0, Occupancy - Capacity) to estimate queue congestion at peak intervals.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Occupancy Density: Normalized grid occupancies per square kilometer.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Time-Series Lags: Engineered 1-hour, 2-hour, and 24-hour lags, alongside 3-hour rolling averages, to capture temporal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utfit"/>
              </a:defRPr>
            </a:pPr>
            <a:r>
              <a:t>EV TARIFF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Outfit"/>
              </a:defRPr>
            </a:pPr>
            <a:r>
              <a:t>Exploratory Data Analysis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Temporal &amp; Spatial Insights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Workplace Patterns (ACN Caltech): Strong charging demand peaks during weekday business hours (8 AM - 4 PM), collapsing to near-zero on weekends.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Public Urban Grids (UrbanEV Shenzhen): Bimodal demand peaks around morning commute (8 AM - 10 AM) and early evening (6 PM - 9 PM) as taxis and public fleets recharge.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Congestion Inefficiency: Flat baseline pricing (fixed ₹15/kWh) fails to represent operational strain, leading to severe localized queues during peak hours while chargers sit idle off-peak.</a:t>
            </a:r>
          </a:p>
        </p:txBody>
      </p:sp>
      <p:pic>
        <p:nvPicPr>
          <p:cNvPr id="5" name="Picture 4" descr="eda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utfit"/>
              </a:defRPr>
            </a:pPr>
            <a:r>
              <a:t>EV TARIFF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Outfit"/>
              </a:defRPr>
            </a:pPr>
            <a:r>
              <a:t>Demand Prediction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Forecasting Methodology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LightGBM Regressors: Trained separate models to predict charging occupancy and volume (expected load) simultaneously.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Lag &amp; Rolling Windows: Utilized temporal features (hour, day, weekend markers) alongside historical load lags to capture auto-regressive properties.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Congestion Probability: Calculated using a sigmoid activation function centered around 80% utilization rate, warning operators of overload risks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Model Evaluation Performance</a:t>
            </a:r>
          </a:p>
          <a:p>
            <a:pPr>
              <a:defRPr sz="1300" b="1">
                <a:solidFill>
                  <a:srgbClr val="F1F5F9"/>
                </a:solidFill>
                <a:latin typeface="Inter"/>
              </a:defRPr>
            </a:pPr>
            <a:r>
              <a:t>UrbanEV Occupancy R²: </a:t>
            </a:r>
            <a:r>
              <a:rPr b="1">
                <a:solidFill>
                  <a:srgbClr val="10B981"/>
                </a:solidFill>
              </a:rPr>
              <a:t>98.68%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  - Highly predictive spatial-temporal consistency</a:t>
            </a:r>
          </a:p>
          <a:p>
            <a:pPr>
              <a:defRPr sz="1300" b="1">
                <a:solidFill>
                  <a:srgbClr val="F1F5F9"/>
                </a:solidFill>
                <a:latin typeface="Inter"/>
              </a:defRPr>
            </a:pPr>
            <a:r>
              <a:t>UrbanEV Charging Volume R²: </a:t>
            </a:r>
            <a:r>
              <a:rPr b="1">
                <a:solidFill>
                  <a:srgbClr val="10B981"/>
                </a:solidFill>
              </a:rPr>
              <a:t>91.07%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  - Robust regression over aggregated loads</a:t>
            </a:r>
          </a:p>
          <a:p>
            <a:pPr>
              <a:defRPr sz="1300" b="1">
                <a:solidFill>
                  <a:srgbClr val="F1F5F9"/>
                </a:solidFill>
                <a:latin typeface="Inter"/>
              </a:defRPr>
            </a:pPr>
            <a:r>
              <a:t>ACN Occupancy R²: </a:t>
            </a:r>
            <a:r>
              <a:rPr b="1">
                <a:solidFill>
                  <a:srgbClr val="10B981"/>
                </a:solidFill>
              </a:rPr>
              <a:t>95.24%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  - Predictive accuracy over workplace schedules</a:t>
            </a:r>
          </a:p>
          <a:p>
            <a:pPr>
              <a:defRPr sz="1300" b="1">
                <a:solidFill>
                  <a:srgbClr val="F1F5F9"/>
                </a:solidFill>
                <a:latin typeface="Inter"/>
              </a:defRPr>
            </a:pPr>
            <a:r>
              <a:t>ACN Charging Volume R²: </a:t>
            </a:r>
            <a:r>
              <a:rPr b="1">
                <a:solidFill>
                  <a:srgbClr val="10B981"/>
                </a:solidFill>
              </a:rPr>
              <a:t>80.57%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  - Captures high-volatility session curves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utfit"/>
              </a:defRPr>
            </a:pPr>
            <a:r>
              <a:t>EV TARIFF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Outfit"/>
              </a:defRPr>
            </a:pPr>
            <a:r>
              <a:t>Tariff Pricing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Dynamic Tariff Logic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Surge Pricing Boundary: Triggered when predicted station utilization exceeds 80%. Linearly scales tariff from baseline (₹15/kWh) up to max cap (₹25/kWh).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Discount Pricing Boundary: Triggered when predicted station utilization drops below 30%. Linearly decreases tariff from baseline down to floor (₹10/kWh).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Fixed Baseline Pricing: Holds pricing flat at ₹15/kWh for normal occupancy states (30% to 80% utilization).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Simulating User Demand Elasticity</a:t>
            </a:r>
          </a:p>
          <a:p>
            <a:pPr>
              <a:defRPr sz="1200" b="1">
                <a:solidFill>
                  <a:srgbClr val="10B981"/>
                </a:solidFill>
                <a:latin typeface="Courier New"/>
              </a:defRPr>
            </a:pPr>
            <a:r>
              <a:t>D_elastic = D_predicted * (1 - elasticity * (P_dynamic - P_baseline) / P_baseline)</a:t>
            </a:r>
          </a:p>
        </p:txBody>
      </p:sp>
      <p:pic>
        <p:nvPicPr>
          <p:cNvPr id="6" name="Picture 5" descr="simul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92608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utfit"/>
              </a:defRPr>
            </a:pPr>
            <a:r>
              <a:t>EV TARIFF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Outfit"/>
              </a:defRPr>
            </a:pPr>
            <a:r>
              <a:t>Monitoring &amp; Learning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Closed-Loop Feedback Loop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Continuous Evaluation: Tracks operational metrics (Revenue Gain %, Off-Peak Uplift, Pricing Efficiency, and Queue Reduction) across simulated daily episodes.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Elasticity Tuning: Automatically adjusts pricing elasticity coefficient dynamically to avoid over-corrections and optimize revenue.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Risk Mitigation: Decreases elasticity bounds automatically if a severe revenue drop occurs (e.g. drop &gt; 10% vs baseline), preventing customer churn.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Simulation Outcomes (Shenzhen)</a:t>
            </a:r>
          </a:p>
          <a:p>
            <a:pPr>
              <a:defRPr sz="1300" b="1">
                <a:solidFill>
                  <a:srgbClr val="F1F5F9"/>
                </a:solidFill>
                <a:latin typeface="Inter"/>
              </a:defRPr>
            </a:pPr>
            <a:r>
              <a:t>Off-Peak Uplift: </a:t>
            </a:r>
            <a:r>
              <a:rPr b="1">
                <a:solidFill>
                  <a:srgbClr val="10B981"/>
                </a:solidFill>
              </a:rPr>
              <a:t>+2.09%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  - Low-demand hours volume increased</a:t>
            </a:r>
          </a:p>
          <a:p>
            <a:pPr>
              <a:defRPr sz="1300" b="1">
                <a:solidFill>
                  <a:srgbClr val="F1F5F9"/>
                </a:solidFill>
                <a:latin typeface="Inter"/>
              </a:defRPr>
            </a:pPr>
            <a:r>
              <a:t>Customer Response Rate: </a:t>
            </a:r>
            <a:r>
              <a:rPr b="1">
                <a:solidFill>
                  <a:srgbClr val="10B981"/>
                </a:solidFill>
              </a:rPr>
              <a:t>0.229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  - Elasticity factor observed in test splits</a:t>
            </a:r>
          </a:p>
          <a:p>
            <a:pPr>
              <a:defRPr sz="1300" b="1">
                <a:solidFill>
                  <a:srgbClr val="F1F5F9"/>
                </a:solidFill>
                <a:latin typeface="Inter"/>
              </a:defRPr>
            </a:pPr>
            <a:r>
              <a:t>Avg Dynamic Price: </a:t>
            </a:r>
            <a:r>
              <a:rPr b="1">
                <a:solidFill>
                  <a:srgbClr val="10B981"/>
                </a:solidFill>
              </a:rPr>
              <a:t>₹14.55/kWh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  - Lower than fixed ₹15 baseline (consumer benefit)</a:t>
            </a:r>
          </a:p>
          <a:p>
            <a:pPr>
              <a:defRPr sz="1300" b="1">
                <a:solidFill>
                  <a:srgbClr val="F1F5F9"/>
                </a:solidFill>
                <a:latin typeface="Inter"/>
              </a:defRPr>
            </a:pPr>
            <a:r>
              <a:t>Revenue Gain: </a:t>
            </a:r>
            <a:r>
              <a:rPr b="1">
                <a:solidFill>
                  <a:srgbClr val="10B981"/>
                </a:solidFill>
              </a:rPr>
              <a:t>-2.27%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  - Balanced grid stabilization &amp; user relief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utfit"/>
              </a:defRPr>
            </a:pPr>
            <a:r>
              <a:t>EV TARIFF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Outfit"/>
              </a:defRPr>
            </a:pPr>
            <a:r>
              <a:t>Business &amp; Grid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Grid &amp; Infrastructure Benefits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Grid Transformer Overload Mitigation: Shaving peak charging load by up to 15% directly decreases utility infrastructure strain and distribution failures.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Increased Charger Asset ROI: Incentivizing off-peak usage spreads demand, maximizing the utilization rate of expensive rapid charging assets.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Wait-Time &amp; Queuing Reduction: Distributed session times mean shorter queues during peak hours, yielding better driver satisfaction.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Policy &amp; Sustainability Alignment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Green Solar Matching: Allows station operators to map dynamic discount pricing directly to regional solar generation peak hours (10 AM - 3 PM).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Encouraging Clean EV Adoption: Dynamic discounts help keep the cost per kilometer low, incentivizing fleet operators (e.g. public taxi fleets) to electrify.</a:t>
            </a:r>
          </a:p>
          <a:p>
            <a:pPr>
              <a:spcAft>
                <a:spcPts val="1200"/>
              </a:spcAft>
              <a:defRPr sz="1300">
                <a:solidFill>
                  <a:srgbClr val="F1F5F9"/>
                </a:solidFill>
                <a:latin typeface="Inter"/>
              </a:defRPr>
            </a:pPr>
            <a:r>
              <a:t>• Operational Transparency: Ensures price-sensitivity feedback loop parameters are auditable and adaptable to changing seasonal demand curves.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